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5" r:id="rId11"/>
    <p:sldId id="340" r:id="rId12"/>
    <p:sldId id="344"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2" d="100"/>
          <a:sy n="92" d="100"/>
        </p:scale>
        <p:origin x="163"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hubham11-Kumar/seasonal-agriculture-performance-analysis/tree/main"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33679" y="2659664"/>
            <a:ext cx="4744408" cy="861497"/>
          </a:xfrm>
        </p:spPr>
        <p:txBody>
          <a:bodyPr vert="horz" lIns="91440" tIns="45720" rIns="91440" bIns="45720" rtlCol="0" anchor="t">
            <a:noAutofit/>
          </a:bodyPr>
          <a:lstStyle/>
          <a:p>
            <a:r>
              <a:rPr lang="en-US" dirty="0">
                <a:solidFill>
                  <a:schemeClr val="tx1"/>
                </a:solidFill>
              </a:rPr>
              <a:t>Student Name – Shubham Kumar</a:t>
            </a:r>
            <a:endParaRPr lang="en-IN" dirty="0">
              <a:solidFill>
                <a:schemeClr val="tx1"/>
              </a:solidFill>
            </a:endParaRPr>
          </a:p>
          <a:p>
            <a:r>
              <a:rPr lang="en-US" dirty="0">
                <a:solidFill>
                  <a:schemeClr val="tx1"/>
                </a:solidFill>
              </a:rPr>
              <a:t>College Name- GNA University </a:t>
            </a:r>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58642" y="395768"/>
            <a:ext cx="11129299" cy="743448"/>
          </a:xfrm>
        </p:spPr>
        <p:txBody>
          <a:bodyPr>
            <a:noAutofit/>
          </a:bodyPr>
          <a:lstStyle/>
          <a:p>
            <a:r>
              <a:rPr lang="en-GB" sz="3200" b="1" dirty="0"/>
              <a:t>Project Title -</a:t>
            </a:r>
            <a:r>
              <a:rPr lang="en-IN" sz="3200" b="1"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33679" y="3521161"/>
            <a:ext cx="5201608" cy="369332"/>
          </a:xfrm>
          <a:prstGeom prst="rect">
            <a:avLst/>
          </a:prstGeom>
          <a:noFill/>
        </p:spPr>
        <p:txBody>
          <a:bodyPr wrap="square" rtlCol="0">
            <a:spAutoFit/>
          </a:bodyPr>
          <a:lstStyle/>
          <a:p>
            <a:r>
              <a:rPr lang="en-US" b="1" dirty="0"/>
              <a:t>AICTE STU ID : STU6a5dbbaa8f0a01784527786</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2075061"/>
            <a:ext cx="7282874" cy="3120393"/>
          </a:xfrm>
        </p:spPr>
        <p:txBody>
          <a:bodyPr vert="horz" lIns="91440" tIns="45720" rIns="91440" bIns="45720" rtlCol="0" anchor="t">
            <a:normAutofit fontScale="55000" lnSpcReduction="20000"/>
          </a:bodyPr>
          <a:lstStyle/>
          <a:p>
            <a:pPr algn="just"/>
            <a:r>
              <a:rPr lang="en-IN" sz="4000" dirty="0">
                <a:latin typeface="Calibri" panose="020F0502020204030204" pitchFamily="34" charset="0"/>
                <a:ea typeface="Calibri" panose="020F0502020204030204" pitchFamily="34" charset="0"/>
                <a:cs typeface="Calibri" panose="020F0502020204030204" pitchFamily="34" charset="0"/>
              </a:rPr>
              <a:t>Agricultural performance is influenced by seasonal conditions, environmental factors, farming practices, resource utilization, and market conditions. Raw agricultural data do not clearly show how productivity, production, profitability, and resource usage vary across different seasons, crops, states, and districts.</a:t>
            </a:r>
          </a:p>
          <a:p>
            <a:pPr algn="just"/>
            <a:r>
              <a:rPr lang="en-IN" sz="4000" dirty="0">
                <a:latin typeface="Calibri" panose="020F0502020204030204" pitchFamily="34" charset="0"/>
                <a:ea typeface="Calibri" panose="020F0502020204030204" pitchFamily="34" charset="0"/>
                <a:cs typeface="Calibri" panose="020F0502020204030204" pitchFamily="34" charset="0"/>
              </a:rPr>
              <a:t>Therefore, this project analyzes agricultural data to identify meaningful patterns, relationships, variations, and differences in agricultural performance and to support data-driven agricultural decision-making.</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963227" y="872435"/>
            <a:ext cx="6995604" cy="790111"/>
          </a:xfrm>
        </p:spPr>
        <p:txBody>
          <a:bodyPr>
            <a:normAutofit fontScale="90000"/>
          </a:bodyPr>
          <a:lstStyle/>
          <a:p>
            <a:r>
              <a:rPr lang="en-US" dirty="0">
                <a:latin typeface="Calibri" panose="020F0502020204030204" pitchFamily="34" charset="0"/>
                <a:ea typeface="Calibri" panose="020F0502020204030204" pitchFamily="34" charset="0"/>
                <a:cs typeface="Calibri" panose="020F0502020204030204" pitchFamily="34" charset="0"/>
              </a:rPr>
              <a:t>PROBLEM  STATEMENT</a:t>
            </a:r>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85584" y="805213"/>
            <a:ext cx="6276109" cy="830997"/>
          </a:xfrm>
        </p:spPr>
        <p:txBody>
          <a:bodyPr>
            <a:normAutofit fontScale="90000"/>
          </a:bodyPr>
          <a:lstStyle/>
          <a:p>
            <a:r>
              <a:rPr lang="en-GB" dirty="0">
                <a:latin typeface="Calibri" panose="020F0502020204030204" pitchFamily="34" charset="0"/>
                <a:ea typeface="Calibri" panose="020F0502020204030204" pitchFamily="34" charset="0"/>
                <a:cs typeface="Calibri" panose="020F0502020204030204" pitchFamily="34" charset="0"/>
              </a:rPr>
              <a:t>Project Description</a:t>
            </a:r>
            <a:br>
              <a:rPr lang="en-GB" dirty="0">
                <a:latin typeface="Calibri" panose="020F0502020204030204" pitchFamily="34" charset="0"/>
                <a:ea typeface="Calibri" panose="020F0502020204030204" pitchFamily="34" charset="0"/>
                <a:cs typeface="Calibri" panose="020F0502020204030204" pitchFamily="34" charset="0"/>
              </a:rPr>
            </a:br>
            <a:r>
              <a:rPr lang="en-GB" dirty="0"/>
              <a:t>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Rectangle 1">
            <a:extLst>
              <a:ext uri="{FF2B5EF4-FFF2-40B4-BE49-F238E27FC236}">
                <a16:creationId xmlns:a16="http://schemas.microsoft.com/office/drawing/2014/main" id="{E51A1CDA-0DF6-5E33-0A71-8079453F9C2C}"/>
              </a:ext>
            </a:extLst>
          </p:cNvPr>
          <p:cNvSpPr/>
          <p:nvPr/>
        </p:nvSpPr>
        <p:spPr>
          <a:xfrm>
            <a:off x="675957" y="1845425"/>
            <a:ext cx="7345825" cy="4405746"/>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4" name="TextBox 3">
            <a:extLst>
              <a:ext uri="{FF2B5EF4-FFF2-40B4-BE49-F238E27FC236}">
                <a16:creationId xmlns:a16="http://schemas.microsoft.com/office/drawing/2014/main" id="{E3091F55-2CF4-C232-6623-A6D09F8BD136}"/>
              </a:ext>
            </a:extLst>
          </p:cNvPr>
          <p:cNvSpPr txBox="1"/>
          <p:nvPr/>
        </p:nvSpPr>
        <p:spPr>
          <a:xfrm>
            <a:off x="467359" y="1928581"/>
            <a:ext cx="11064242" cy="4124206"/>
          </a:xfrm>
          <a:prstGeom prst="rect">
            <a:avLst/>
          </a:prstGeom>
          <a:noFill/>
        </p:spPr>
        <p:txBody>
          <a:bodyPr wrap="square" rtlCol="0">
            <a:spAutoFit/>
          </a:bodyPr>
          <a:lstStyle/>
          <a:p>
            <a:pPr algn="just"/>
            <a:r>
              <a:rPr lang="en-IN" sz="2400" dirty="0">
                <a:latin typeface="Calibri" panose="020F0502020204030204" pitchFamily="34" charset="0"/>
                <a:ea typeface="Calibri" panose="020F0502020204030204" pitchFamily="34" charset="0"/>
                <a:cs typeface="Calibri" panose="020F0502020204030204" pitchFamily="34" charset="0"/>
              </a:rPr>
              <a:t>This project performs an exploratory data analysis of agricultural performance using Python. The dataset contains 4,000 agricultural records and 28 variables covering farm characteristics, environmental conditions, farming practices, crop performance, resource utilization, and economic outcomes.</a:t>
            </a:r>
          </a:p>
          <a:p>
            <a:pPr algn="just"/>
            <a:r>
              <a:rPr lang="en-IN" sz="2400" dirty="0">
                <a:latin typeface="Calibri" panose="020F0502020204030204" pitchFamily="34" charset="0"/>
                <a:ea typeface="Calibri" panose="020F0502020204030204" pitchFamily="34" charset="0"/>
                <a:cs typeface="Calibri" panose="020F0502020204030204" pitchFamily="34" charset="0"/>
              </a:rPr>
              <a:t>The analysis examines agricultural performance across seasons, crops, irrigation methods, states, and districts. Statistical calculations, correlation analysis, and data visualizations such as bar charts and scatter plots are used to identify important patterns and relationships.</a:t>
            </a:r>
          </a:p>
          <a:p>
            <a:pPr algn="just"/>
            <a:r>
              <a:rPr lang="en-IN" sz="2400" dirty="0">
                <a:latin typeface="Calibri" panose="020F0502020204030204" pitchFamily="34" charset="0"/>
                <a:ea typeface="Calibri" panose="020F0502020204030204" pitchFamily="34" charset="0"/>
                <a:cs typeface="Calibri" panose="020F0502020204030204" pitchFamily="34" charset="0"/>
              </a:rPr>
              <a:t>The main outcomes </a:t>
            </a:r>
            <a:r>
              <a:rPr lang="en-IN" sz="2400" dirty="0" err="1">
                <a:latin typeface="Calibri" panose="020F0502020204030204" pitchFamily="34" charset="0"/>
                <a:ea typeface="Calibri" panose="020F0502020204030204" pitchFamily="34" charset="0"/>
                <a:cs typeface="Calibri" panose="020F0502020204030204" pitchFamily="34" charset="0"/>
              </a:rPr>
              <a:t>analyzed</a:t>
            </a:r>
            <a:r>
              <a:rPr lang="en-IN" sz="2400" dirty="0">
                <a:latin typeface="Calibri" panose="020F0502020204030204" pitchFamily="34" charset="0"/>
                <a:ea typeface="Calibri" panose="020F0502020204030204" pitchFamily="34" charset="0"/>
                <a:cs typeface="Calibri" panose="020F0502020204030204" pitchFamily="34" charset="0"/>
              </a:rPr>
              <a:t> include yield, production, revenue, profit, water usage, water efficiency, disease and pest risk, and market price.</a:t>
            </a:r>
          </a:p>
          <a:p>
            <a:endParaRPr lang="en-IN" sz="2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62500" lnSpcReduction="20000"/>
          </a:bodyPr>
          <a:lstStyle/>
          <a:p>
            <a:pPr marL="0" indent="0" algn="just">
              <a:buNone/>
            </a:pPr>
            <a:r>
              <a:rPr lang="en-IN" sz="2400" b="1" dirty="0">
                <a:latin typeface="Calibri" panose="020F0502020204030204" pitchFamily="34" charset="0"/>
                <a:ea typeface="Calibri" panose="020F0502020204030204" pitchFamily="34" charset="0"/>
                <a:cs typeface="Calibri" panose="020F0502020204030204" pitchFamily="34" charset="0"/>
              </a:rPr>
              <a:t>Farmers</a:t>
            </a:r>
            <a:endParaRPr lang="en-IN" sz="24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2400" dirty="0">
                <a:latin typeface="Calibri" panose="020F0502020204030204" pitchFamily="34" charset="0"/>
                <a:ea typeface="Calibri" panose="020F0502020204030204" pitchFamily="34" charset="0"/>
                <a:cs typeface="Calibri" panose="020F0502020204030204" pitchFamily="34" charset="0"/>
              </a:rPr>
              <a:t>Optimise field-level outcomes by comparing crop performance, identifying profitable yields, evaluating irrigation practices, and maximizing resource efficiency.</a:t>
            </a:r>
          </a:p>
          <a:p>
            <a:pPr marL="0" indent="0" algn="just">
              <a:buNone/>
            </a:pPr>
            <a:r>
              <a:rPr lang="en-IN" sz="2400" b="1" dirty="0">
                <a:latin typeface="Calibri" panose="020F0502020204030204" pitchFamily="34" charset="0"/>
                <a:ea typeface="Calibri" panose="020F0502020204030204" pitchFamily="34" charset="0"/>
                <a:cs typeface="Calibri" panose="020F0502020204030204" pitchFamily="34" charset="0"/>
              </a:rPr>
              <a:t>Agricultural Departments</a:t>
            </a:r>
            <a:endParaRPr lang="en-IN" sz="24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2400" dirty="0">
                <a:latin typeface="Calibri" panose="020F0502020204030204" pitchFamily="34" charset="0"/>
                <a:ea typeface="Calibri" panose="020F0502020204030204" pitchFamily="34" charset="0"/>
                <a:cs typeface="Calibri" panose="020F0502020204030204" pitchFamily="34" charset="0"/>
              </a:rPr>
              <a:t>Drive regional development by identifying high- and low-performing zones, monitoring seasonal yields, and supporting targeted public agricultural planning.</a:t>
            </a:r>
          </a:p>
          <a:p>
            <a:pPr marL="0" indent="0" algn="just">
              <a:buNone/>
            </a:pPr>
            <a:r>
              <a:rPr lang="en-IN" sz="2400" b="1" dirty="0">
                <a:latin typeface="Calibri" panose="020F0502020204030204" pitchFamily="34" charset="0"/>
                <a:ea typeface="Calibri" panose="020F0502020204030204" pitchFamily="34" charset="0"/>
                <a:cs typeface="Calibri" panose="020F0502020204030204" pitchFamily="34" charset="0"/>
              </a:rPr>
              <a:t>Agricultural Planners &amp; Consultants</a:t>
            </a:r>
            <a:endParaRPr lang="en-IN" sz="24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2400" dirty="0">
                <a:latin typeface="Calibri" panose="020F0502020204030204" pitchFamily="34" charset="0"/>
                <a:ea typeface="Calibri" panose="020F0502020204030204" pitchFamily="34" charset="0"/>
                <a:cs typeface="Calibri" panose="020F0502020204030204" pitchFamily="34" charset="0"/>
              </a:rPr>
              <a:t>Guide data-driven stakeholder decisions through longitudinal trend analysis, productivity-profitability comparisons, and seasonal evaluations.</a:t>
            </a:r>
          </a:p>
          <a:p>
            <a:pPr marL="0" indent="0" algn="just">
              <a:buNone/>
            </a:pPr>
            <a:r>
              <a:rPr lang="en-IN" sz="2400" b="1" dirty="0">
                <a:latin typeface="Calibri" panose="020F0502020204030204" pitchFamily="34" charset="0"/>
                <a:ea typeface="Calibri" panose="020F0502020204030204" pitchFamily="34" charset="0"/>
                <a:cs typeface="Calibri" panose="020F0502020204030204" pitchFamily="34" charset="0"/>
              </a:rPr>
              <a:t>Data Analysts &amp; Researchers</a:t>
            </a:r>
            <a:endParaRPr lang="en-IN" sz="24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2400" dirty="0">
                <a:latin typeface="Calibri" panose="020F0502020204030204" pitchFamily="34" charset="0"/>
                <a:ea typeface="Calibri" panose="020F0502020204030204" pitchFamily="34" charset="0"/>
                <a:cs typeface="Calibri" panose="020F0502020204030204" pitchFamily="34" charset="0"/>
              </a:rPr>
              <a:t>Advance agricultural intelligence by studying complex spatial patterns, executing statistical analyses, and developing predictive crop models.</a:t>
            </a:r>
          </a:p>
          <a:p>
            <a:pPr marL="0" indent="0" algn="just">
              <a:buNone/>
            </a:pPr>
            <a:r>
              <a:rPr lang="en-IN" sz="2400" b="1" dirty="0">
                <a:latin typeface="Calibri" panose="020F0502020204030204" pitchFamily="34" charset="0"/>
                <a:ea typeface="Calibri" panose="020F0502020204030204" pitchFamily="34" charset="0"/>
                <a:cs typeface="Calibri" panose="020F0502020204030204" pitchFamily="34" charset="0"/>
              </a:rPr>
              <a:t>Agribusiness &amp; Decision Makers</a:t>
            </a:r>
            <a:endParaRPr lang="en-IN" sz="24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IN" sz="2400" dirty="0">
                <a:latin typeface="Calibri" panose="020F0502020204030204" pitchFamily="34" charset="0"/>
                <a:ea typeface="Calibri" panose="020F0502020204030204" pitchFamily="34" charset="0"/>
                <a:cs typeface="Calibri" panose="020F0502020204030204" pitchFamily="34" charset="0"/>
              </a:rPr>
              <a:t>Inform strategic investments and corporate planning by tracking revenue streams, assessing production yields, and pinpointing lucrative crops.</a:t>
            </a:r>
          </a:p>
          <a:p>
            <a:pPr algn="just">
              <a:lnSpc>
                <a:spcPct val="150000"/>
              </a:lnSpc>
            </a:pP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6479061" cy="802641"/>
          </a:xfrm>
        </p:spPr>
        <p:txBody>
          <a:bodyPr>
            <a:normAutofit/>
          </a:bodyPr>
          <a:lstStyle/>
          <a:p>
            <a:r>
              <a:rPr lang="en-US" sz="4300" dirty="0">
                <a:latin typeface="Calibri" panose="020F0502020204030204" pitchFamily="34" charset="0"/>
                <a:ea typeface="Calibri" panose="020F0502020204030204" pitchFamily="34" charset="0"/>
                <a:cs typeface="Calibri" panose="020F0502020204030204" pitchFamily="34" charset="0"/>
              </a:rPr>
              <a:t>WHO ARE THE END USERS?</a:t>
            </a:r>
            <a:endParaRPr lang="en-IN" sz="43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267854" y="880913"/>
            <a:ext cx="9027702" cy="5529548"/>
          </a:xfrm>
        </p:spPr>
        <p:txBody>
          <a:bodyPr>
            <a:normAutofit fontScale="32500" lnSpcReduction="20000"/>
          </a:bodyPr>
          <a:lstStyle/>
          <a:p>
            <a:r>
              <a:rPr lang="en-IN" sz="4900" b="1" dirty="0">
                <a:latin typeface="Calibri" panose="020F0502020204030204" pitchFamily="34" charset="0"/>
                <a:ea typeface="Calibri" panose="020F0502020204030204" pitchFamily="34" charset="0"/>
                <a:cs typeface="Calibri" panose="020F0502020204030204" pitchFamily="34" charset="0"/>
              </a:rPr>
              <a:t>Python</a:t>
            </a:r>
            <a:br>
              <a:rPr lang="en-IN" sz="3400" dirty="0">
                <a:latin typeface="Calibri" panose="020F0502020204030204" pitchFamily="34" charset="0"/>
                <a:ea typeface="Calibri" panose="020F0502020204030204" pitchFamily="34" charset="0"/>
                <a:cs typeface="Calibri" panose="020F0502020204030204" pitchFamily="34" charset="0"/>
              </a:rPr>
            </a:br>
            <a:r>
              <a:rPr lang="en-IN" sz="4300" dirty="0">
                <a:latin typeface="Calibri" panose="020F0502020204030204" pitchFamily="34" charset="0"/>
                <a:ea typeface="Calibri" panose="020F0502020204030204" pitchFamily="34" charset="0"/>
                <a:cs typeface="Calibri" panose="020F0502020204030204" pitchFamily="34" charset="0"/>
              </a:rPr>
              <a:t>Programming language used for data analysis.</a:t>
            </a:r>
          </a:p>
          <a:p>
            <a:r>
              <a:rPr lang="en-IN" sz="4900" b="1" dirty="0">
                <a:latin typeface="Calibri" panose="020F0502020204030204" pitchFamily="34" charset="0"/>
                <a:ea typeface="Calibri" panose="020F0502020204030204" pitchFamily="34" charset="0"/>
                <a:cs typeface="Calibri" panose="020F0502020204030204" pitchFamily="34" charset="0"/>
              </a:rPr>
              <a:t>Pandas</a:t>
            </a:r>
            <a:br>
              <a:rPr lang="en-IN" sz="3400" dirty="0">
                <a:latin typeface="Calibri" panose="020F0502020204030204" pitchFamily="34" charset="0"/>
                <a:ea typeface="Calibri" panose="020F0502020204030204" pitchFamily="34" charset="0"/>
                <a:cs typeface="Calibri" panose="020F0502020204030204" pitchFamily="34" charset="0"/>
              </a:rPr>
            </a:br>
            <a:r>
              <a:rPr lang="en-IN" sz="4300" dirty="0">
                <a:latin typeface="Calibri" panose="020F0502020204030204" pitchFamily="34" charset="0"/>
                <a:ea typeface="Calibri" panose="020F0502020204030204" pitchFamily="34" charset="0"/>
                <a:cs typeface="Calibri" panose="020F0502020204030204" pitchFamily="34" charset="0"/>
              </a:rPr>
              <a:t>Used for data loading, cleaning, grouping, aggregation, and analysis.</a:t>
            </a:r>
          </a:p>
          <a:p>
            <a:r>
              <a:rPr lang="en-IN" sz="4900" b="1" dirty="0">
                <a:latin typeface="Calibri" panose="020F0502020204030204" pitchFamily="34" charset="0"/>
                <a:ea typeface="Calibri" panose="020F0502020204030204" pitchFamily="34" charset="0"/>
                <a:cs typeface="Calibri" panose="020F0502020204030204" pitchFamily="34" charset="0"/>
              </a:rPr>
              <a:t>NumPy</a:t>
            </a:r>
            <a:br>
              <a:rPr lang="en-IN" sz="3400" dirty="0">
                <a:latin typeface="Calibri" panose="020F0502020204030204" pitchFamily="34" charset="0"/>
                <a:ea typeface="Calibri" panose="020F0502020204030204" pitchFamily="34" charset="0"/>
                <a:cs typeface="Calibri" panose="020F0502020204030204" pitchFamily="34" charset="0"/>
              </a:rPr>
            </a:br>
            <a:r>
              <a:rPr lang="en-IN" sz="4300" dirty="0">
                <a:latin typeface="Calibri" panose="020F0502020204030204" pitchFamily="34" charset="0"/>
                <a:ea typeface="Calibri" panose="020F0502020204030204" pitchFamily="34" charset="0"/>
                <a:cs typeface="Calibri" panose="020F0502020204030204" pitchFamily="34" charset="0"/>
              </a:rPr>
              <a:t>Used for numerical and mathematical operations</a:t>
            </a:r>
            <a:r>
              <a:rPr lang="en-IN" sz="3400" dirty="0">
                <a:latin typeface="Calibri" panose="020F0502020204030204" pitchFamily="34" charset="0"/>
                <a:ea typeface="Calibri" panose="020F0502020204030204" pitchFamily="34" charset="0"/>
                <a:cs typeface="Calibri" panose="020F0502020204030204" pitchFamily="34" charset="0"/>
              </a:rPr>
              <a:t>.</a:t>
            </a:r>
          </a:p>
          <a:p>
            <a:r>
              <a:rPr lang="en-IN" sz="4900" b="1" dirty="0">
                <a:latin typeface="Calibri" panose="020F0502020204030204" pitchFamily="34" charset="0"/>
                <a:ea typeface="Calibri" panose="020F0502020204030204" pitchFamily="34" charset="0"/>
                <a:cs typeface="Calibri" panose="020F0502020204030204" pitchFamily="34" charset="0"/>
              </a:rPr>
              <a:t>Matplotlib</a:t>
            </a:r>
            <a:br>
              <a:rPr lang="en-IN" sz="3400" dirty="0">
                <a:latin typeface="Calibri" panose="020F0502020204030204" pitchFamily="34" charset="0"/>
                <a:ea typeface="Calibri" panose="020F0502020204030204" pitchFamily="34" charset="0"/>
                <a:cs typeface="Calibri" panose="020F0502020204030204" pitchFamily="34" charset="0"/>
              </a:rPr>
            </a:br>
            <a:r>
              <a:rPr lang="en-IN" sz="4300" dirty="0">
                <a:latin typeface="Calibri" panose="020F0502020204030204" pitchFamily="34" charset="0"/>
                <a:ea typeface="Calibri" panose="020F0502020204030204" pitchFamily="34" charset="0"/>
                <a:cs typeface="Calibri" panose="020F0502020204030204" pitchFamily="34" charset="0"/>
              </a:rPr>
              <a:t>Used to create bar charts and scatter plots.</a:t>
            </a:r>
          </a:p>
          <a:p>
            <a:r>
              <a:rPr lang="en-IN" sz="4900" b="1" dirty="0">
                <a:latin typeface="Calibri" panose="020F0502020204030204" pitchFamily="34" charset="0"/>
                <a:ea typeface="Calibri" panose="020F0502020204030204" pitchFamily="34" charset="0"/>
                <a:cs typeface="Calibri" panose="020F0502020204030204" pitchFamily="34" charset="0"/>
              </a:rPr>
              <a:t>Seaborn</a:t>
            </a:r>
            <a:br>
              <a:rPr lang="en-IN" sz="3400" dirty="0">
                <a:latin typeface="Calibri" panose="020F0502020204030204" pitchFamily="34" charset="0"/>
                <a:ea typeface="Calibri" panose="020F0502020204030204" pitchFamily="34" charset="0"/>
                <a:cs typeface="Calibri" panose="020F0502020204030204" pitchFamily="34" charset="0"/>
              </a:rPr>
            </a:br>
            <a:r>
              <a:rPr lang="en-IN" sz="4300" dirty="0">
                <a:latin typeface="Calibri" panose="020F0502020204030204" pitchFamily="34" charset="0"/>
                <a:ea typeface="Calibri" panose="020F0502020204030204" pitchFamily="34" charset="0"/>
                <a:cs typeface="Calibri" panose="020F0502020204030204" pitchFamily="34" charset="0"/>
              </a:rPr>
              <a:t>Used for statistical visualization and graphical analysis.</a:t>
            </a:r>
          </a:p>
          <a:p>
            <a:r>
              <a:rPr lang="en-IN" sz="4900" b="1" dirty="0" err="1">
                <a:latin typeface="Calibri" panose="020F0502020204030204" pitchFamily="34" charset="0"/>
                <a:ea typeface="Calibri" panose="020F0502020204030204" pitchFamily="34" charset="0"/>
                <a:cs typeface="Calibri" panose="020F0502020204030204" pitchFamily="34" charset="0"/>
              </a:rPr>
              <a:t>Jupyter</a:t>
            </a:r>
            <a:r>
              <a:rPr lang="en-IN" sz="4900" b="1" dirty="0">
                <a:latin typeface="Calibri" panose="020F0502020204030204" pitchFamily="34" charset="0"/>
                <a:ea typeface="Calibri" panose="020F0502020204030204" pitchFamily="34" charset="0"/>
                <a:cs typeface="Calibri" panose="020F0502020204030204" pitchFamily="34" charset="0"/>
              </a:rPr>
              <a:t> Notebook</a:t>
            </a:r>
            <a:br>
              <a:rPr lang="en-IN" sz="3400" dirty="0">
                <a:latin typeface="Calibri" panose="020F0502020204030204" pitchFamily="34" charset="0"/>
                <a:ea typeface="Calibri" panose="020F0502020204030204" pitchFamily="34" charset="0"/>
                <a:cs typeface="Calibri" panose="020F0502020204030204" pitchFamily="34" charset="0"/>
              </a:rPr>
            </a:br>
            <a:r>
              <a:rPr lang="en-IN" sz="3400" dirty="0">
                <a:latin typeface="Calibri" panose="020F0502020204030204" pitchFamily="34" charset="0"/>
                <a:ea typeface="Calibri" panose="020F0502020204030204" pitchFamily="34" charset="0"/>
                <a:cs typeface="Calibri" panose="020F0502020204030204" pitchFamily="34" charset="0"/>
              </a:rPr>
              <a:t>Used as the development and analysis environment.</a:t>
            </a:r>
          </a:p>
          <a:p>
            <a:r>
              <a:rPr lang="en-IN" sz="4900" b="1" dirty="0">
                <a:latin typeface="Calibri" panose="020F0502020204030204" pitchFamily="34" charset="0"/>
                <a:ea typeface="Calibri" panose="020F0502020204030204" pitchFamily="34" charset="0"/>
                <a:cs typeface="Calibri" panose="020F0502020204030204" pitchFamily="34" charset="0"/>
              </a:rPr>
              <a:t>CSV Dataset</a:t>
            </a:r>
            <a:br>
              <a:rPr lang="en-IN" sz="3400" dirty="0">
                <a:latin typeface="Calibri" panose="020F0502020204030204" pitchFamily="34" charset="0"/>
                <a:ea typeface="Calibri" panose="020F0502020204030204" pitchFamily="34" charset="0"/>
                <a:cs typeface="Calibri" panose="020F0502020204030204" pitchFamily="34" charset="0"/>
              </a:rPr>
            </a:br>
            <a:r>
              <a:rPr lang="en-IN" sz="4400" dirty="0">
                <a:latin typeface="Calibri" panose="020F0502020204030204" pitchFamily="34" charset="0"/>
                <a:ea typeface="Calibri" panose="020F0502020204030204" pitchFamily="34" charset="0"/>
                <a:cs typeface="Calibri" panose="020F0502020204030204" pitchFamily="34" charset="0"/>
              </a:rPr>
              <a:t>Used as the source agricultural dataset.</a:t>
            </a:r>
          </a:p>
          <a:p>
            <a:r>
              <a:rPr lang="en-IN" sz="4400" dirty="0" err="1">
                <a:latin typeface="Calibri" panose="020F0502020204030204" pitchFamily="34" charset="0"/>
                <a:ea typeface="Calibri" panose="020F0502020204030204" pitchFamily="34" charset="0"/>
                <a:cs typeface="Calibri" panose="020F0502020204030204" pitchFamily="34" charset="0"/>
              </a:rPr>
              <a:t>Aapke</a:t>
            </a:r>
            <a:r>
              <a:rPr lang="en-IN" sz="4400" dirty="0">
                <a:latin typeface="Calibri" panose="020F0502020204030204" pitchFamily="34" charset="0"/>
                <a:ea typeface="Calibri" panose="020F0502020204030204" pitchFamily="34" charset="0"/>
                <a:cs typeface="Calibri" panose="020F0502020204030204" pitchFamily="34" charset="0"/>
              </a:rPr>
              <a:t> notebook </a:t>
            </a:r>
            <a:r>
              <a:rPr lang="en-IN" sz="4400" dirty="0" err="1">
                <a:latin typeface="Calibri" panose="020F0502020204030204" pitchFamily="34" charset="0"/>
                <a:ea typeface="Calibri" panose="020F0502020204030204" pitchFamily="34" charset="0"/>
                <a:cs typeface="Calibri" panose="020F0502020204030204" pitchFamily="34" charset="0"/>
              </a:rPr>
              <a:t>mein</a:t>
            </a:r>
            <a:r>
              <a:rPr lang="en-IN" sz="4400" dirty="0">
                <a:latin typeface="Calibri" panose="020F0502020204030204" pitchFamily="34" charset="0"/>
                <a:ea typeface="Calibri" panose="020F0502020204030204" pitchFamily="34" charset="0"/>
                <a:cs typeface="Calibri" panose="020F0502020204030204" pitchFamily="34" charset="0"/>
              </a:rPr>
              <a:t> Pandas, NumPy, Matplotlib aur Seaborn explicitly imported hain.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467359" y="151447"/>
            <a:ext cx="5306291" cy="847817"/>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latin typeface="Calibri" panose="020F0502020204030204" pitchFamily="34" charset="0"/>
                <a:ea typeface="Calibri" panose="020F0502020204030204" pitchFamily="34" charset="0"/>
                <a:cs typeface="Calibri" panose="020F0502020204030204" pitchFamily="34" charset="0"/>
              </a:rPr>
              <a:t>RESULTS </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499592" y="1201586"/>
            <a:ext cx="8212145" cy="739863"/>
          </a:xfrm>
        </p:spPr>
        <p:txBody>
          <a:bodyPr vert="horz" lIns="91440" tIns="45720" rIns="91440" bIns="45720" rtlCol="0" anchor="t">
            <a:normAutofit fontScale="25000" lnSpcReduction="20000"/>
          </a:bodyPr>
          <a:lstStyle/>
          <a:p>
            <a:pPr algn="just"/>
            <a:r>
              <a:rPr lang="en-IN" sz="4300" dirty="0">
                <a:latin typeface="Calibri" panose="020F0502020204030204" pitchFamily="34" charset="0"/>
                <a:ea typeface="Calibri" panose="020F0502020204030204" pitchFamily="34" charset="0"/>
                <a:cs typeface="Calibri" panose="020F0502020204030204" pitchFamily="34" charset="0"/>
              </a:rPr>
              <a:t>The bar chart shows that Kharif has the highest number of observations with 1,779 records, followed by Rabi with 1,627 records. Zaid has the lowest number of observations with 594 records.</a:t>
            </a:r>
          </a:p>
          <a:p>
            <a:pPr algn="just"/>
            <a:r>
              <a:rPr lang="en-IN" sz="4300" dirty="0">
                <a:latin typeface="Calibri" panose="020F0502020204030204" pitchFamily="34" charset="0"/>
                <a:ea typeface="Calibri" panose="020F0502020204030204" pitchFamily="34" charset="0"/>
                <a:cs typeface="Calibri" panose="020F0502020204030204" pitchFamily="34" charset="0"/>
              </a:rPr>
              <a:t>This indicates that the dataset is not evenly distributed across seasons. Therefore, seasonal comparisons should consider the difference in the number of observations across seasons.</a:t>
            </a:r>
          </a:p>
          <a:p>
            <a:pPr marL="0" indent="0">
              <a:buNone/>
            </a:pPr>
            <a:endParaRPr lang="en-IN" dirty="0"/>
          </a:p>
        </p:txBody>
      </p:sp>
      <p:pic>
        <p:nvPicPr>
          <p:cNvPr id="3" name="Picture 2">
            <a:extLst>
              <a:ext uri="{FF2B5EF4-FFF2-40B4-BE49-F238E27FC236}">
                <a16:creationId xmlns:a16="http://schemas.microsoft.com/office/drawing/2014/main" id="{BEE08577-A3D8-5840-05C7-E7EAC6619F39}"/>
              </a:ext>
            </a:extLst>
          </p:cNvPr>
          <p:cNvPicPr>
            <a:picLocks noChangeAspect="1"/>
          </p:cNvPicPr>
          <p:nvPr/>
        </p:nvPicPr>
        <p:blipFill>
          <a:blip r:embed="rId3"/>
          <a:stretch>
            <a:fillRect/>
          </a:stretch>
        </p:blipFill>
        <p:spPr>
          <a:xfrm>
            <a:off x="675956" y="2015234"/>
            <a:ext cx="9052717" cy="442445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latin typeface="Calibri" panose="020F0502020204030204" pitchFamily="34" charset="0"/>
                <a:ea typeface="Calibri" panose="020F0502020204030204" pitchFamily="34" charset="0"/>
                <a:cs typeface="Calibri" panose="020F050202020403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433091" y="1201586"/>
            <a:ext cx="4275138" cy="5463374"/>
          </a:xfrm>
        </p:spPr>
        <p:txBody>
          <a:bodyPr>
            <a:normAutofit fontScale="25000" lnSpcReduction="20000"/>
          </a:bodyPr>
          <a:lstStyle/>
          <a:p>
            <a:r>
              <a:rPr lang="en-IN" sz="6400" dirty="0">
                <a:latin typeface="Calibri" panose="020F0502020204030204" pitchFamily="34" charset="0"/>
                <a:ea typeface="Calibri" panose="020F0502020204030204" pitchFamily="34" charset="0"/>
                <a:cs typeface="Calibri" panose="020F0502020204030204" pitchFamily="34" charset="0"/>
              </a:rPr>
              <a:t>The analysis shows substantial differences in average agricultural yield across different crops.</a:t>
            </a:r>
          </a:p>
          <a:p>
            <a:r>
              <a:rPr lang="en-IN" sz="6400" dirty="0">
                <a:latin typeface="Calibri" panose="020F0502020204030204" pitchFamily="34" charset="0"/>
                <a:ea typeface="Calibri" panose="020F0502020204030204" pitchFamily="34" charset="0"/>
                <a:cs typeface="Calibri" panose="020F0502020204030204" pitchFamily="34" charset="0"/>
              </a:rPr>
              <a:t>Sugarcane has the highest average yield at approximately 46.64 tonnes per hectare. Maize has the second-highest average yield at approximately 2.71 tonnes per hectare, followed by Rice at 2.43 tonnes per hectare and Wheat at 2.11 tonnes per hectare.</a:t>
            </a:r>
          </a:p>
          <a:p>
            <a:r>
              <a:rPr lang="en-IN" sz="6400" dirty="0">
                <a:latin typeface="Calibri" panose="020F0502020204030204" pitchFamily="34" charset="0"/>
                <a:ea typeface="Calibri" panose="020F0502020204030204" pitchFamily="34" charset="0"/>
                <a:cs typeface="Calibri" panose="020F0502020204030204" pitchFamily="34" charset="0"/>
              </a:rPr>
              <a:t>Among the remaining crops, Chilli has an average yield of approximately 1.54 tonnes per hectare, Groundnut 1.32 tonnes per hectare, and Cotton 1.23 tonnes per hectare. Pulses have the lowest average yield at approximately 0.92 tonnes per hectare.</a:t>
            </a:r>
          </a:p>
          <a:p>
            <a:r>
              <a:rPr lang="en-IN" sz="6400" dirty="0">
                <a:latin typeface="Calibri" panose="020F0502020204030204" pitchFamily="34" charset="0"/>
                <a:ea typeface="Calibri" panose="020F0502020204030204" pitchFamily="34" charset="0"/>
                <a:cs typeface="Calibri" panose="020F0502020204030204" pitchFamily="34" charset="0"/>
              </a:rPr>
              <a:t>The results indicate that crop type is associated with substantial differences in average yield in this dataset. Sugarcane shows a particularly high average yield compared with the other crops.</a:t>
            </a:r>
          </a:p>
          <a:p>
            <a:r>
              <a:rPr lang="en-IN" sz="6400" dirty="0">
                <a:latin typeface="Calibri" panose="020F0502020204030204" pitchFamily="34" charset="0"/>
                <a:ea typeface="Calibri" panose="020F0502020204030204" pitchFamily="34" charset="0"/>
                <a:cs typeface="Calibri" panose="020F0502020204030204" pitchFamily="34" charset="0"/>
              </a:rPr>
              <a:t>However, the yield values should be interpreted within the context of each crop because different crops can naturally have different production scales and characteristics.</a:t>
            </a:r>
          </a:p>
          <a:p>
            <a:pPr marL="0" indent="0">
              <a:buNone/>
            </a:pPr>
            <a:endParaRPr lang="en-IN" dirty="0"/>
          </a:p>
        </p:txBody>
      </p:sp>
      <p:pic>
        <p:nvPicPr>
          <p:cNvPr id="3" name="Picture 2">
            <a:extLst>
              <a:ext uri="{FF2B5EF4-FFF2-40B4-BE49-F238E27FC236}">
                <a16:creationId xmlns:a16="http://schemas.microsoft.com/office/drawing/2014/main" id="{7986D538-04BC-A255-BB1E-C8AAB5B11A1A}"/>
              </a:ext>
            </a:extLst>
          </p:cNvPr>
          <p:cNvPicPr>
            <a:picLocks noChangeAspect="1"/>
          </p:cNvPicPr>
          <p:nvPr/>
        </p:nvPicPr>
        <p:blipFill>
          <a:blip r:embed="rId3"/>
          <a:stretch>
            <a:fillRect/>
          </a:stretch>
        </p:blipFill>
        <p:spPr>
          <a:xfrm>
            <a:off x="4951094" y="370589"/>
            <a:ext cx="7073319" cy="2572116"/>
          </a:xfrm>
          <a:prstGeom prst="rect">
            <a:avLst/>
          </a:prstGeom>
        </p:spPr>
      </p:pic>
      <p:pic>
        <p:nvPicPr>
          <p:cNvPr id="9" name="Picture 8">
            <a:extLst>
              <a:ext uri="{FF2B5EF4-FFF2-40B4-BE49-F238E27FC236}">
                <a16:creationId xmlns:a16="http://schemas.microsoft.com/office/drawing/2014/main" id="{9B2867BC-404F-AB22-66A5-765E5512F6E7}"/>
              </a:ext>
            </a:extLst>
          </p:cNvPr>
          <p:cNvPicPr>
            <a:picLocks noChangeAspect="1"/>
          </p:cNvPicPr>
          <p:nvPr/>
        </p:nvPicPr>
        <p:blipFill>
          <a:blip r:embed="rId4"/>
          <a:stretch>
            <a:fillRect/>
          </a:stretch>
        </p:blipFill>
        <p:spPr>
          <a:xfrm>
            <a:off x="5228705" y="3016490"/>
            <a:ext cx="6795708" cy="355887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8" y="370589"/>
            <a:ext cx="2374814" cy="830997"/>
          </a:xfrm>
        </p:spPr>
        <p:txBody>
          <a:bodyPr>
            <a:normAutofit/>
          </a:bodyPr>
          <a:lstStyle/>
          <a:p>
            <a:r>
              <a:rPr lang="en-GB" dirty="0">
                <a:latin typeface="Calibri" panose="020F0502020204030204" pitchFamily="34" charset="0"/>
                <a:ea typeface="Calibri" panose="020F0502020204030204" pitchFamily="34" charset="0"/>
                <a:cs typeface="Calibri" panose="020F050202020403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383215" y="1275371"/>
            <a:ext cx="4275138" cy="5160301"/>
          </a:xfrm>
        </p:spPr>
        <p:txBody>
          <a:bodyPr>
            <a:normAutofit fontScale="85000" lnSpcReduction="10000"/>
          </a:bodyPr>
          <a:lstStyle/>
          <a:p>
            <a:pPr algn="just"/>
            <a:r>
              <a:rPr lang="en-IN" sz="1900" dirty="0">
                <a:latin typeface="Calibri" panose="020F0502020204030204" pitchFamily="34" charset="0"/>
                <a:ea typeface="Calibri" panose="020F0502020204030204" pitchFamily="34" charset="0"/>
                <a:cs typeface="Calibri" panose="020F0502020204030204" pitchFamily="34" charset="0"/>
              </a:rPr>
              <a:t>The analysis shows that Kharif has the highest average revenue of approximately ₹710,710, while its average cost is approximately ₹531,804. This results in a positive difference between revenue and cost.</a:t>
            </a:r>
          </a:p>
          <a:p>
            <a:pPr algn="just"/>
            <a:r>
              <a:rPr lang="en-IN" sz="1900" dirty="0">
                <a:latin typeface="Calibri" panose="020F0502020204030204" pitchFamily="34" charset="0"/>
                <a:ea typeface="Calibri" panose="020F0502020204030204" pitchFamily="34" charset="0"/>
                <a:cs typeface="Calibri" panose="020F0502020204030204" pitchFamily="34" charset="0"/>
              </a:rPr>
              <a:t>Rabi also has a positive difference between average revenue and average cost, with average revenue of approximately ₹601,526 and average cost of approximately ₹513,836.</a:t>
            </a:r>
          </a:p>
          <a:p>
            <a:pPr algn="just"/>
            <a:r>
              <a:rPr lang="en-IN" sz="1900" dirty="0">
                <a:latin typeface="Calibri" panose="020F0502020204030204" pitchFamily="34" charset="0"/>
                <a:ea typeface="Calibri" panose="020F0502020204030204" pitchFamily="34" charset="0"/>
                <a:cs typeface="Calibri" panose="020F0502020204030204" pitchFamily="34" charset="0"/>
              </a:rPr>
              <a:t>In contrast, Zaid has an average cost of approximately ₹543,977, which is higher than its average revenue of approximately ₹519,172. This helps explain the negative average profit observed for the Zaid season in the previous analysis.</a:t>
            </a:r>
          </a:p>
          <a:p>
            <a:pPr algn="just"/>
            <a:r>
              <a:rPr lang="en-IN" sz="1900" dirty="0">
                <a:latin typeface="Calibri" panose="020F0502020204030204" pitchFamily="34" charset="0"/>
                <a:ea typeface="Calibri" panose="020F0502020204030204" pitchFamily="34" charset="0"/>
                <a:cs typeface="Calibri" panose="020F0502020204030204" pitchFamily="34" charset="0"/>
              </a:rPr>
              <a:t>Overall, the comparison indicates that the relationship between revenue and cost is an important factor associated with seasonal differences in agricultural profitability.</a:t>
            </a:r>
          </a:p>
          <a:p>
            <a:pPr marL="0" indent="0">
              <a:buNone/>
            </a:pPr>
            <a:endParaRPr lang="en-IN" dirty="0"/>
          </a:p>
        </p:txBody>
      </p:sp>
      <p:pic>
        <p:nvPicPr>
          <p:cNvPr id="3" name="Picture 2">
            <a:extLst>
              <a:ext uri="{FF2B5EF4-FFF2-40B4-BE49-F238E27FC236}">
                <a16:creationId xmlns:a16="http://schemas.microsoft.com/office/drawing/2014/main" id="{0572BCE6-515D-420B-DBD3-AAD99E5B6786}"/>
              </a:ext>
            </a:extLst>
          </p:cNvPr>
          <p:cNvPicPr>
            <a:picLocks noChangeAspect="1"/>
          </p:cNvPicPr>
          <p:nvPr/>
        </p:nvPicPr>
        <p:blipFill>
          <a:blip r:embed="rId3"/>
          <a:stretch>
            <a:fillRect/>
          </a:stretch>
        </p:blipFill>
        <p:spPr>
          <a:xfrm>
            <a:off x="4720587" y="76744"/>
            <a:ext cx="7316242" cy="3131969"/>
          </a:xfrm>
          <a:prstGeom prst="rect">
            <a:avLst/>
          </a:prstGeom>
        </p:spPr>
      </p:pic>
      <p:pic>
        <p:nvPicPr>
          <p:cNvPr id="9" name="Picture 8">
            <a:extLst>
              <a:ext uri="{FF2B5EF4-FFF2-40B4-BE49-F238E27FC236}">
                <a16:creationId xmlns:a16="http://schemas.microsoft.com/office/drawing/2014/main" id="{F78293F6-A9A2-26B1-B6DB-EB9CB2828C55}"/>
              </a:ext>
            </a:extLst>
          </p:cNvPr>
          <p:cNvPicPr>
            <a:picLocks noChangeAspect="1"/>
          </p:cNvPicPr>
          <p:nvPr/>
        </p:nvPicPr>
        <p:blipFill>
          <a:blip r:embed="rId4"/>
          <a:stretch>
            <a:fillRect/>
          </a:stretch>
        </p:blipFill>
        <p:spPr>
          <a:xfrm>
            <a:off x="4804756" y="3296307"/>
            <a:ext cx="7232073" cy="324049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366501" cy="830997"/>
          </a:xfrm>
        </p:spPr>
        <p:txBody>
          <a:bodyPr>
            <a:normAutofit/>
          </a:bodyPr>
          <a:lstStyle/>
          <a:p>
            <a:r>
              <a:rPr lang="en-GB" dirty="0">
                <a:latin typeface="Calibri" panose="020F0502020204030204" pitchFamily="34" charset="0"/>
                <a:ea typeface="Calibri" panose="020F0502020204030204" pitchFamily="34" charset="0"/>
                <a:cs typeface="Calibri" panose="020F0502020204030204" pitchFamily="34" charset="0"/>
              </a:rPr>
              <a:t>RESULTS </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320982" y="1201586"/>
            <a:ext cx="4275138" cy="5233267"/>
          </a:xfrm>
        </p:spPr>
        <p:txBody>
          <a:bodyPr>
            <a:normAutofit fontScale="85000" lnSpcReduction="20000"/>
          </a:bodyPr>
          <a:lstStyle/>
          <a:p>
            <a:pPr algn="just"/>
            <a:r>
              <a:rPr lang="en-IN" dirty="0">
                <a:latin typeface="Calibri" panose="020F0502020204030204" pitchFamily="34" charset="0"/>
                <a:ea typeface="Calibri" panose="020F0502020204030204" pitchFamily="34" charset="0"/>
                <a:cs typeface="Calibri" panose="020F0502020204030204" pitchFamily="34" charset="0"/>
              </a:rPr>
              <a:t>The analysis shows that Kharif has the highest average disease and pest risk at approximately 54.47%, followed by Rabi at approximately 40.48%. Zaid has the lowest average risk at approximately 38.22%.</a:t>
            </a:r>
          </a:p>
          <a:p>
            <a:pPr algn="just"/>
            <a:r>
              <a:rPr lang="en-IN" dirty="0">
                <a:latin typeface="Calibri" panose="020F0502020204030204" pitchFamily="34" charset="0"/>
                <a:ea typeface="Calibri" panose="020F0502020204030204" pitchFamily="34" charset="0"/>
                <a:cs typeface="Calibri" panose="020F0502020204030204" pitchFamily="34" charset="0"/>
              </a:rPr>
              <a:t>This indicates that disease and pest risk varies across seasons, with Kharif showing a considerably higher average risk than Rabi and Zaid.</a:t>
            </a:r>
          </a:p>
          <a:p>
            <a:pPr algn="just"/>
            <a:r>
              <a:rPr lang="en-IN" dirty="0">
                <a:latin typeface="Calibri" panose="020F0502020204030204" pitchFamily="34" charset="0"/>
                <a:ea typeface="Calibri" panose="020F0502020204030204" pitchFamily="34" charset="0"/>
                <a:cs typeface="Calibri" panose="020F0502020204030204" pitchFamily="34" charset="0"/>
              </a:rPr>
              <a:t>Interestingly, Kharif also recorded the highest average yield, production, and profit in the previous analyses despite having the highest disease and pest risk. Therefore, higher disease and pest risk alone does not appear to explain the differences in agricultural performance observed across seasons.</a:t>
            </a:r>
          </a:p>
          <a:p>
            <a:pPr algn="just"/>
            <a:r>
              <a:rPr lang="en-IN" dirty="0">
                <a:latin typeface="Calibri" panose="020F0502020204030204" pitchFamily="34" charset="0"/>
                <a:ea typeface="Calibri" panose="020F0502020204030204" pitchFamily="34" charset="0"/>
                <a:cs typeface="Calibri" panose="020F0502020204030204" pitchFamily="34" charset="0"/>
              </a:rPr>
              <a:t>Further analysis of farming practices, pesticide usage, seed quality, irrigation, and other factors would be required to better understand these differences.</a:t>
            </a:r>
          </a:p>
          <a:p>
            <a:pPr marL="0" indent="0">
              <a:buNone/>
            </a:pPr>
            <a:endParaRPr lang="en-IN" dirty="0"/>
          </a:p>
        </p:txBody>
      </p:sp>
      <p:pic>
        <p:nvPicPr>
          <p:cNvPr id="3" name="Picture 2">
            <a:extLst>
              <a:ext uri="{FF2B5EF4-FFF2-40B4-BE49-F238E27FC236}">
                <a16:creationId xmlns:a16="http://schemas.microsoft.com/office/drawing/2014/main" id="{387CFB54-38A7-867C-9CF3-1AE507EFBF5D}"/>
              </a:ext>
            </a:extLst>
          </p:cNvPr>
          <p:cNvPicPr>
            <a:picLocks noChangeAspect="1"/>
          </p:cNvPicPr>
          <p:nvPr/>
        </p:nvPicPr>
        <p:blipFill>
          <a:blip r:embed="rId3"/>
          <a:stretch>
            <a:fillRect/>
          </a:stretch>
        </p:blipFill>
        <p:spPr>
          <a:xfrm>
            <a:off x="4681685" y="130804"/>
            <a:ext cx="7330206" cy="2789162"/>
          </a:xfrm>
          <a:prstGeom prst="rect">
            <a:avLst/>
          </a:prstGeom>
        </p:spPr>
      </p:pic>
      <p:pic>
        <p:nvPicPr>
          <p:cNvPr id="9" name="Picture 8">
            <a:extLst>
              <a:ext uri="{FF2B5EF4-FFF2-40B4-BE49-F238E27FC236}">
                <a16:creationId xmlns:a16="http://schemas.microsoft.com/office/drawing/2014/main" id="{0EA93C78-9B0E-C820-1CC3-ECE2E5B2A2F2}"/>
              </a:ext>
            </a:extLst>
          </p:cNvPr>
          <p:cNvPicPr>
            <a:picLocks noChangeAspect="1"/>
          </p:cNvPicPr>
          <p:nvPr/>
        </p:nvPicPr>
        <p:blipFill>
          <a:blip r:embed="rId4"/>
          <a:stretch>
            <a:fillRect/>
          </a:stretch>
        </p:blipFill>
        <p:spPr>
          <a:xfrm>
            <a:off x="4681684" y="3129373"/>
            <a:ext cx="7330205" cy="353558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193040"/>
            <a:ext cx="2341563" cy="830997"/>
          </a:xfrm>
        </p:spPr>
        <p:txBody>
          <a:bodyPr>
            <a:normAutofit/>
          </a:bodyPr>
          <a:lstStyle/>
          <a:p>
            <a:r>
              <a:rPr lang="en-GB" dirty="0">
                <a:latin typeface="Calibri" panose="020F0502020204030204" pitchFamily="34" charset="0"/>
                <a:ea typeface="Calibri" panose="020F0502020204030204" pitchFamily="34" charset="0"/>
                <a:cs typeface="Calibri" panose="020F050202020403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408153" y="1105066"/>
            <a:ext cx="4275138" cy="5463374"/>
          </a:xfrm>
        </p:spPr>
        <p:txBody>
          <a:bodyPr>
            <a:noAutofit/>
          </a:bodyPr>
          <a:lstStyle/>
          <a:p>
            <a:r>
              <a:rPr lang="en-IN" sz="1400" dirty="0">
                <a:latin typeface="Calibri" panose="020F0502020204030204" pitchFamily="34" charset="0"/>
                <a:ea typeface="Calibri" panose="020F0502020204030204" pitchFamily="34" charset="0"/>
                <a:cs typeface="Calibri" panose="020F0502020204030204" pitchFamily="34" charset="0"/>
              </a:rPr>
              <a:t>The analysis shows clear differences between average cost and average revenue across crops.</a:t>
            </a:r>
          </a:p>
          <a:p>
            <a:r>
              <a:rPr lang="en-IN" sz="1400" dirty="0">
                <a:latin typeface="Calibri" panose="020F0502020204030204" pitchFamily="34" charset="0"/>
                <a:ea typeface="Calibri" panose="020F0502020204030204" pitchFamily="34" charset="0"/>
                <a:cs typeface="Calibri" panose="020F0502020204030204" pitchFamily="34" charset="0"/>
              </a:rPr>
              <a:t>Sugarcane has the highest average revenue at approximately INR 1,371,980, while its average total cost is approximately INR 554,792. This large difference between revenue and cost explains its highest average profit observed in the previous analysis.</a:t>
            </a:r>
          </a:p>
          <a:p>
            <a:r>
              <a:rPr lang="en-IN" sz="1400" dirty="0">
                <a:latin typeface="Calibri" panose="020F0502020204030204" pitchFamily="34" charset="0"/>
                <a:ea typeface="Calibri" panose="020F0502020204030204" pitchFamily="34" charset="0"/>
                <a:cs typeface="Calibri" panose="020F0502020204030204" pitchFamily="34" charset="0"/>
              </a:rPr>
              <a:t>Chilli also shows strong economic performance, with an average revenue of approximately INR 1,276,777 compared with an average cost of approximately INR 525,899.</a:t>
            </a:r>
          </a:p>
          <a:p>
            <a:r>
              <a:rPr lang="en-IN" sz="1400" dirty="0">
                <a:latin typeface="Calibri" panose="020F0502020204030204" pitchFamily="34" charset="0"/>
                <a:ea typeface="Calibri" panose="020F0502020204030204" pitchFamily="34" charset="0"/>
                <a:cs typeface="Calibri" panose="020F0502020204030204" pitchFamily="34" charset="0"/>
              </a:rPr>
              <a:t>Cotton and Groundnut also have average revenues higher than their average costs, resulting in positive average profits.</a:t>
            </a:r>
          </a:p>
          <a:p>
            <a:r>
              <a:rPr lang="en-IN" sz="1400" dirty="0">
                <a:latin typeface="Calibri" panose="020F0502020204030204" pitchFamily="34" charset="0"/>
                <a:ea typeface="Calibri" panose="020F0502020204030204" pitchFamily="34" charset="0"/>
                <a:cs typeface="Calibri" panose="020F0502020204030204" pitchFamily="34" charset="0"/>
              </a:rPr>
              <a:t>In contrast, Maize, Pulses, Rice, and Wheat have average revenues lower than their average total costs. This explains their negative average profits observed in the previous analysis.</a:t>
            </a:r>
          </a:p>
          <a:p>
            <a:r>
              <a:rPr lang="en-IN" sz="1400" dirty="0">
                <a:latin typeface="Calibri" panose="020F0502020204030204" pitchFamily="34" charset="0"/>
                <a:ea typeface="Calibri" panose="020F0502020204030204" pitchFamily="34" charset="0"/>
                <a:cs typeface="Calibri" panose="020F0502020204030204" pitchFamily="34" charset="0"/>
              </a:rPr>
              <a:t>Overall, the comparison of average cost and revenue helps explain why profitability differs across crops in the dataset.</a:t>
            </a:r>
          </a:p>
          <a:p>
            <a:pPr marL="0" indent="0">
              <a:buNone/>
            </a:pPr>
            <a:endParaRPr lang="en-IN" sz="1600" dirty="0"/>
          </a:p>
        </p:txBody>
      </p:sp>
      <p:pic>
        <p:nvPicPr>
          <p:cNvPr id="3" name="Picture 2">
            <a:extLst>
              <a:ext uri="{FF2B5EF4-FFF2-40B4-BE49-F238E27FC236}">
                <a16:creationId xmlns:a16="http://schemas.microsoft.com/office/drawing/2014/main" id="{DB798920-DA5F-BDAA-E625-4BB0FF73F40C}"/>
              </a:ext>
            </a:extLst>
          </p:cNvPr>
          <p:cNvPicPr>
            <a:picLocks noChangeAspect="1"/>
          </p:cNvPicPr>
          <p:nvPr/>
        </p:nvPicPr>
        <p:blipFill>
          <a:blip r:embed="rId3"/>
          <a:stretch>
            <a:fillRect/>
          </a:stretch>
        </p:blipFill>
        <p:spPr>
          <a:xfrm>
            <a:off x="4683290" y="127089"/>
            <a:ext cx="7295349" cy="3301911"/>
          </a:xfrm>
          <a:prstGeom prst="rect">
            <a:avLst/>
          </a:prstGeom>
        </p:spPr>
      </p:pic>
      <p:pic>
        <p:nvPicPr>
          <p:cNvPr id="9" name="Picture 8">
            <a:extLst>
              <a:ext uri="{FF2B5EF4-FFF2-40B4-BE49-F238E27FC236}">
                <a16:creationId xmlns:a16="http://schemas.microsoft.com/office/drawing/2014/main" id="{9D4133FC-AC75-A7DF-7D29-1BF2BE690EF8}"/>
              </a:ext>
            </a:extLst>
          </p:cNvPr>
          <p:cNvPicPr>
            <a:picLocks noChangeAspect="1"/>
          </p:cNvPicPr>
          <p:nvPr/>
        </p:nvPicPr>
        <p:blipFill>
          <a:blip r:embed="rId4"/>
          <a:stretch>
            <a:fillRect/>
          </a:stretch>
        </p:blipFill>
        <p:spPr>
          <a:xfrm>
            <a:off x="4683290" y="3363049"/>
            <a:ext cx="7295350" cy="330191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1" end="1"/>
                                            </p:txEl>
                                          </p:spTgt>
                                        </p:tgtEl>
                                        <p:attrNameLst>
                                          <p:attrName>style.visibility</p:attrName>
                                        </p:attrNameLst>
                                      </p:cBhvr>
                                      <p:to>
                                        <p:strVal val="visible"/>
                                      </p:to>
                                    </p:set>
                                    <p:animEffect transition="in" filter="fade">
                                      <p:cBhvr>
                                        <p:cTn id="28" dur="1000"/>
                                        <p:tgtEl>
                                          <p:spTgt spid="10">
                                            <p:txEl>
                                              <p:pRg st="1" end="1"/>
                                            </p:txEl>
                                          </p:spTgt>
                                        </p:tgtEl>
                                      </p:cBhvr>
                                    </p:animEffect>
                                    <p:anim calcmode="lin" valueType="num">
                                      <p:cBhvr>
                                        <p:cTn id="29"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Effect transition="in" filter="fade">
                                      <p:cBhvr>
                                        <p:cTn id="35" dur="1000"/>
                                        <p:tgtEl>
                                          <p:spTgt spid="10">
                                            <p:txEl>
                                              <p:pRg st="2" end="2"/>
                                            </p:txEl>
                                          </p:spTgt>
                                        </p:tgtEl>
                                      </p:cBhvr>
                                    </p:animEffect>
                                    <p:anim calcmode="lin" valueType="num">
                                      <p:cBhvr>
                                        <p:cTn id="36"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3" end="3"/>
                                            </p:txEl>
                                          </p:spTgt>
                                        </p:tgtEl>
                                        <p:attrNameLst>
                                          <p:attrName>style.visibility</p:attrName>
                                        </p:attrNameLst>
                                      </p:cBhvr>
                                      <p:to>
                                        <p:strVal val="visible"/>
                                      </p:to>
                                    </p:set>
                                    <p:animEffect transition="in" filter="fade">
                                      <p:cBhvr>
                                        <p:cTn id="42" dur="1000"/>
                                        <p:tgtEl>
                                          <p:spTgt spid="10">
                                            <p:txEl>
                                              <p:pRg st="3" end="3"/>
                                            </p:txEl>
                                          </p:spTgt>
                                        </p:tgtEl>
                                      </p:cBhvr>
                                    </p:animEffect>
                                    <p:anim calcmode="lin" valueType="num">
                                      <p:cBhvr>
                                        <p:cTn id="4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4" end="4"/>
                                            </p:txEl>
                                          </p:spTgt>
                                        </p:tgtEl>
                                        <p:attrNameLst>
                                          <p:attrName>style.visibility</p:attrName>
                                        </p:attrNameLst>
                                      </p:cBhvr>
                                      <p:to>
                                        <p:strVal val="visible"/>
                                      </p:to>
                                    </p:set>
                                    <p:animEffect transition="in" filter="fade">
                                      <p:cBhvr>
                                        <p:cTn id="49" dur="1000"/>
                                        <p:tgtEl>
                                          <p:spTgt spid="10">
                                            <p:txEl>
                                              <p:pRg st="4" end="4"/>
                                            </p:txEl>
                                          </p:spTgt>
                                        </p:tgtEl>
                                      </p:cBhvr>
                                    </p:animEffect>
                                    <p:anim calcmode="lin" valueType="num">
                                      <p:cBhvr>
                                        <p:cTn id="5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5" end="5"/>
                                            </p:txEl>
                                          </p:spTgt>
                                        </p:tgtEl>
                                        <p:attrNameLst>
                                          <p:attrName>style.visibility</p:attrName>
                                        </p:attrNameLst>
                                      </p:cBhvr>
                                      <p:to>
                                        <p:strVal val="visible"/>
                                      </p:to>
                                    </p:set>
                                    <p:animEffect transition="in" filter="fade">
                                      <p:cBhvr>
                                        <p:cTn id="56" dur="1000"/>
                                        <p:tgtEl>
                                          <p:spTgt spid="10">
                                            <p:txEl>
                                              <p:pRg st="5" end="5"/>
                                            </p:txEl>
                                          </p:spTgt>
                                        </p:tgtEl>
                                      </p:cBhvr>
                                    </p:animEffect>
                                    <p:anim calcmode="lin" valueType="num">
                                      <p:cBhvr>
                                        <p:cTn id="57"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264265"/>
            <a:ext cx="3164523" cy="830997"/>
          </a:xfrm>
        </p:spPr>
        <p:txBody>
          <a:bodyPr>
            <a:normAutofit/>
          </a:bodyPr>
          <a:lstStyle/>
          <a:p>
            <a:r>
              <a:rPr lang="en-IN" sz="4300" dirty="0">
                <a:latin typeface="Calibri" panose="020F0502020204030204" pitchFamily="34" charset="0"/>
                <a:ea typeface="Calibri" panose="020F0502020204030204" pitchFamily="34" charset="0"/>
                <a:cs typeface="Calibri" panose="020F0502020204030204" pitchFamily="34"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37608" y="1201586"/>
            <a:ext cx="8074872" cy="5270334"/>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457200" indent="-457200" algn="just">
              <a:buFont typeface="+mj-lt"/>
              <a:buAutoNum type="arabicPeriod"/>
            </a:pPr>
            <a:r>
              <a:rPr lang="en-IN" sz="2000" b="1" dirty="0">
                <a:latin typeface="Calibri" panose="020F0502020204030204" pitchFamily="34" charset="0"/>
                <a:ea typeface="Calibri" panose="020F0502020204030204" pitchFamily="34" charset="0"/>
                <a:cs typeface="Calibri" panose="020F0502020204030204" pitchFamily="34" charset="0"/>
              </a:rPr>
              <a:t>Machine Learning Prediction:</a:t>
            </a:r>
            <a:r>
              <a:rPr lang="en-IN" sz="2000" dirty="0">
                <a:latin typeface="Calibri" panose="020F0502020204030204" pitchFamily="34" charset="0"/>
                <a:ea typeface="Calibri" panose="020F0502020204030204" pitchFamily="34" charset="0"/>
                <a:cs typeface="Calibri" panose="020F0502020204030204" pitchFamily="34" charset="0"/>
              </a:rPr>
              <a:t> Predict crop yield and profit using historical agricultural data. </a:t>
            </a:r>
          </a:p>
          <a:p>
            <a:pPr marL="457200" indent="-457200" algn="just">
              <a:buFont typeface="+mj-lt"/>
              <a:buAutoNum type="arabicPeriod"/>
            </a:pPr>
            <a:r>
              <a:rPr lang="en-IN" sz="2000" b="1" dirty="0">
                <a:latin typeface="Calibri" panose="020F0502020204030204" pitchFamily="34" charset="0"/>
                <a:ea typeface="Calibri" panose="020F0502020204030204" pitchFamily="34" charset="0"/>
                <a:cs typeface="Calibri" panose="020F0502020204030204" pitchFamily="34" charset="0"/>
              </a:rPr>
              <a:t>Crop Recommendation System:</a:t>
            </a:r>
            <a:r>
              <a:rPr lang="en-IN" sz="2000" dirty="0">
                <a:latin typeface="Calibri" panose="020F0502020204030204" pitchFamily="34" charset="0"/>
                <a:ea typeface="Calibri" panose="020F0502020204030204" pitchFamily="34" charset="0"/>
                <a:cs typeface="Calibri" panose="020F0502020204030204" pitchFamily="34" charset="0"/>
              </a:rPr>
              <a:t> Recommend suitable crops based on soil, climate, season, and resource conditions. </a:t>
            </a:r>
          </a:p>
          <a:p>
            <a:pPr marL="457200" indent="-457200" algn="just">
              <a:buFont typeface="+mj-lt"/>
              <a:buAutoNum type="arabicPeriod"/>
            </a:pPr>
            <a:r>
              <a:rPr lang="en-IN" sz="2000" b="1" dirty="0">
                <a:latin typeface="Calibri" panose="020F0502020204030204" pitchFamily="34" charset="0"/>
                <a:ea typeface="Calibri" panose="020F0502020204030204" pitchFamily="34" charset="0"/>
                <a:cs typeface="Calibri" panose="020F0502020204030204" pitchFamily="34" charset="0"/>
              </a:rPr>
              <a:t>Regional Decision Support:</a:t>
            </a:r>
            <a:r>
              <a:rPr lang="en-IN" sz="2000" dirty="0">
                <a:latin typeface="Calibri" panose="020F0502020204030204" pitchFamily="34" charset="0"/>
                <a:ea typeface="Calibri" panose="020F0502020204030204" pitchFamily="34" charset="0"/>
                <a:cs typeface="Calibri" panose="020F0502020204030204" pitchFamily="34" charset="0"/>
              </a:rPr>
              <a:t> Develop state/district-specific agricultural recommendations. </a:t>
            </a:r>
          </a:p>
          <a:p>
            <a:pPr marL="457200" indent="-457200" algn="just">
              <a:buFont typeface="+mj-lt"/>
              <a:buAutoNum type="arabicPeriod"/>
            </a:pPr>
            <a:r>
              <a:rPr lang="en-IN" sz="2000" b="1" dirty="0">
                <a:latin typeface="Calibri" panose="020F0502020204030204" pitchFamily="34" charset="0"/>
                <a:ea typeface="Calibri" panose="020F0502020204030204" pitchFamily="34" charset="0"/>
                <a:cs typeface="Calibri" panose="020F0502020204030204" pitchFamily="34" charset="0"/>
              </a:rPr>
              <a:t>Real-Time Data Integration:</a:t>
            </a:r>
            <a:r>
              <a:rPr lang="en-IN" sz="2000" dirty="0">
                <a:latin typeface="Calibri" panose="020F0502020204030204" pitchFamily="34" charset="0"/>
                <a:ea typeface="Calibri" panose="020F0502020204030204" pitchFamily="34" charset="0"/>
                <a:cs typeface="Calibri" panose="020F0502020204030204" pitchFamily="34" charset="0"/>
              </a:rPr>
              <a:t> Integrate live weather, rainfall, market prices, and soil data. </a:t>
            </a:r>
          </a:p>
          <a:p>
            <a:pPr marL="457200" indent="-457200" algn="just">
              <a:buFont typeface="+mj-lt"/>
              <a:buAutoNum type="arabicPeriod"/>
            </a:pPr>
            <a:r>
              <a:rPr lang="en-IN" sz="2000" b="1" dirty="0">
                <a:latin typeface="Calibri" panose="020F0502020204030204" pitchFamily="34" charset="0"/>
                <a:ea typeface="Calibri" panose="020F0502020204030204" pitchFamily="34" charset="0"/>
                <a:cs typeface="Calibri" panose="020F0502020204030204" pitchFamily="34" charset="0"/>
              </a:rPr>
              <a:t>Advanced Statistical Analysis:</a:t>
            </a:r>
            <a:r>
              <a:rPr lang="en-IN" sz="2000" dirty="0">
                <a:latin typeface="Calibri" panose="020F0502020204030204" pitchFamily="34" charset="0"/>
                <a:ea typeface="Calibri" panose="020F0502020204030204" pitchFamily="34" charset="0"/>
                <a:cs typeface="Calibri" panose="020F0502020204030204" pitchFamily="34" charset="0"/>
              </a:rPr>
              <a:t> Use regression and non-linear models to identify relationships that simple correlation may not capture. </a:t>
            </a:r>
          </a:p>
          <a:p>
            <a:pPr marL="457200" indent="-457200" algn="just">
              <a:buFont typeface="+mj-lt"/>
              <a:buAutoNum type="arabicPeriod"/>
            </a:pPr>
            <a:r>
              <a:rPr lang="en-IN" sz="2000" b="1" dirty="0">
                <a:latin typeface="Calibri" panose="020F0502020204030204" pitchFamily="34" charset="0"/>
                <a:ea typeface="Calibri" panose="020F0502020204030204" pitchFamily="34" charset="0"/>
                <a:cs typeface="Calibri" panose="020F0502020204030204" pitchFamily="34" charset="0"/>
              </a:rPr>
              <a:t>Interactive Dashboard:</a:t>
            </a:r>
            <a:r>
              <a:rPr lang="en-IN" sz="2000" dirty="0">
                <a:latin typeface="Calibri" panose="020F0502020204030204" pitchFamily="34" charset="0"/>
                <a:ea typeface="Calibri" panose="020F0502020204030204" pitchFamily="34" charset="0"/>
                <a:cs typeface="Calibri" panose="020F0502020204030204" pitchFamily="34" charset="0"/>
              </a:rPr>
              <a:t> Develop an interactive Power BI or web dashboard for farmers and agricultural departments.</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9F3451EC-BC8D-C368-198E-7637F057923B}"/>
              </a:ext>
            </a:extLst>
          </p:cNvPr>
          <p:cNvSpPr txBox="1"/>
          <p:nvPr/>
        </p:nvSpPr>
        <p:spPr>
          <a:xfrm>
            <a:off x="404108" y="5656414"/>
            <a:ext cx="8681701" cy="646331"/>
          </a:xfrm>
          <a:prstGeom prst="rect">
            <a:avLst/>
          </a:prstGeom>
          <a:noFill/>
        </p:spPr>
        <p:txBody>
          <a:bodyPr wrap="square">
            <a:spAutoFit/>
          </a:bodyPr>
          <a:lstStyle/>
          <a:p>
            <a:pPr marL="285750" indent="-285750">
              <a:buFont typeface="Wingdings" panose="05000000000000000000" pitchFamily="2" charset="2"/>
              <a:buChar char="Ø"/>
            </a:pPr>
            <a:r>
              <a:rPr lang="en-IN" dirty="0">
                <a:latin typeface="Calibri" panose="020F0502020204030204" pitchFamily="34" charset="0"/>
                <a:ea typeface="Calibri" panose="020F0502020204030204" pitchFamily="34" charset="0"/>
                <a:cs typeface="Calibri" panose="020F0502020204030204" pitchFamily="34" charset="0"/>
              </a:rPr>
              <a:t>The current project can be extended from descriptive analysis to predictive and prescriptive agricultural decision-making.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2765512" cy="830997"/>
          </a:xfrm>
        </p:spPr>
        <p:txBody>
          <a:bodyPr>
            <a:normAutofit/>
          </a:bodyPr>
          <a:lstStyle/>
          <a:p>
            <a:r>
              <a:rPr lang="en-IN" sz="4000" dirty="0">
                <a:latin typeface="Calibri" panose="020F0502020204030204" pitchFamily="34" charset="0"/>
                <a:ea typeface="Calibri" panose="020F0502020204030204" pitchFamily="34" charset="0"/>
                <a:cs typeface="Calibri" panose="020F0502020204030204" pitchFamily="34"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a:extLst>
              <a:ext uri="{FF2B5EF4-FFF2-40B4-BE49-F238E27FC236}">
                <a16:creationId xmlns:a16="http://schemas.microsoft.com/office/drawing/2014/main" id="{E8EB20F0-1E32-37A1-00B1-4817F1059364}"/>
              </a:ext>
            </a:extLst>
          </p:cNvPr>
          <p:cNvSpPr/>
          <p:nvPr/>
        </p:nvSpPr>
        <p:spPr>
          <a:xfrm>
            <a:off x="897775" y="1521230"/>
            <a:ext cx="6292734" cy="666078"/>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3" name="TextBox 2">
            <a:extLst>
              <a:ext uri="{FF2B5EF4-FFF2-40B4-BE49-F238E27FC236}">
                <a16:creationId xmlns:a16="http://schemas.microsoft.com/office/drawing/2014/main" id="{50AD1493-15E1-FB4E-0DAC-EF8AF7CE4CF5}"/>
              </a:ext>
            </a:extLst>
          </p:cNvPr>
          <p:cNvSpPr txBox="1"/>
          <p:nvPr/>
        </p:nvSpPr>
        <p:spPr>
          <a:xfrm>
            <a:off x="590204" y="1521230"/>
            <a:ext cx="5960225" cy="666078"/>
          </a:xfrm>
          <a:prstGeom prst="rect">
            <a:avLst/>
          </a:prstGeom>
          <a:noFill/>
        </p:spPr>
        <p:txBody>
          <a:bodyPr wrap="square" rtlCol="0">
            <a:spAutoFit/>
          </a:bodyPr>
          <a:lstStyle/>
          <a:p>
            <a:r>
              <a:rPr lang="en-IN" dirty="0">
                <a:hlinkClick r:id="rId3"/>
              </a:rPr>
              <a:t>https://github.com/Shubham11-Kumar/seasonal-agriculture-performance-analysis/tree/main</a:t>
            </a:r>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Calibri" panose="020F0502020204030204" pitchFamily="34" charset="0"/>
                <a:ea typeface="Calibri" panose="020F0502020204030204" pitchFamily="34" charset="0"/>
                <a:cs typeface="Calibri" panose="020F0502020204030204" pitchFamily="34" charset="0"/>
              </a:rPr>
              <a:t>VOIS Course completion certificate  </a:t>
            </a:r>
            <a:br>
              <a:rPr lang="en-IN" sz="3200" dirty="0">
                <a:latin typeface="Calibri" panose="020F0502020204030204" pitchFamily="34" charset="0"/>
                <a:ea typeface="Calibri" panose="020F0502020204030204" pitchFamily="34" charset="0"/>
                <a:cs typeface="Calibri" panose="020F0502020204030204" pitchFamily="34" charset="0"/>
              </a:rPr>
            </a:br>
            <a:r>
              <a:rPr lang="en-IN" sz="3200" dirty="0">
                <a:latin typeface="Calibri" panose="020F0502020204030204" pitchFamily="34" charset="0"/>
                <a:ea typeface="Calibri" panose="020F0502020204030204" pitchFamily="34" charset="0"/>
                <a:cs typeface="Calibri" panose="020F0502020204030204" pitchFamily="34"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C9C575D-DEAF-A211-2D61-CEF9D83D3538}"/>
              </a:ext>
            </a:extLst>
          </p:cNvPr>
          <p:cNvPicPr>
            <a:picLocks noChangeAspect="1"/>
          </p:cNvPicPr>
          <p:nvPr/>
        </p:nvPicPr>
        <p:blipFill>
          <a:blip r:embed="rId3"/>
          <a:stretch>
            <a:fillRect/>
          </a:stretch>
        </p:blipFill>
        <p:spPr>
          <a:xfrm>
            <a:off x="675957" y="1406325"/>
            <a:ext cx="7412327" cy="523499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626802" y="2079352"/>
            <a:ext cx="4472509" cy="700114"/>
          </a:xfrm>
          <a:prstGeom prst="rect">
            <a:avLst/>
          </a:prstGeom>
        </p:spPr>
        <p:txBody>
          <a:bodyPr anchor="ctr">
            <a:normAutofit fontScale="90000"/>
          </a:bodyPr>
          <a:lstStyle/>
          <a:p>
            <a:pPr algn="ctr"/>
            <a:r>
              <a:rPr lang="en-US" sz="4800" b="1" dirty="0">
                <a:solidFill>
                  <a:schemeClr val="tx1"/>
                </a:solidFill>
                <a:latin typeface="Calibri" panose="020F0502020204030204" pitchFamily="34" charset="0"/>
                <a:ea typeface="Calibri" panose="020F0502020204030204" pitchFamily="34" charset="0"/>
                <a:cs typeface="Calibri" panose="020F0502020204030204" pitchFamily="34"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742</TotalTime>
  <Words>1207</Words>
  <Application>Microsoft Office PowerPoint</Application>
  <PresentationFormat>Widescreen</PresentationFormat>
  <Paragraphs>72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shubham kumar</cp:lastModifiedBy>
  <cp:revision>98</cp:revision>
  <dcterms:created xsi:type="dcterms:W3CDTF">2021-07-11T13:13:15Z</dcterms:created>
  <dcterms:modified xsi:type="dcterms:W3CDTF">2026-09-04T19:23:21Z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